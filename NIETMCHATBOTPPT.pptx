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4" r:id="rId2"/>
    <p:sldId id="265" r:id="rId3"/>
    <p:sldId id="257" r:id="rId4"/>
    <p:sldId id="279" r:id="rId5"/>
    <p:sldId id="258" r:id="rId6"/>
    <p:sldId id="271" r:id="rId7"/>
    <p:sldId id="260" r:id="rId8"/>
    <p:sldId id="259" r:id="rId9"/>
    <p:sldId id="278" r:id="rId10"/>
    <p:sldId id="280" r:id="rId11"/>
    <p:sldId id="281" r:id="rId12"/>
    <p:sldId id="282" r:id="rId13"/>
    <p:sldId id="261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day lahane" initials="ul" lastIdx="1" clrIdx="0">
    <p:extLst>
      <p:ext uri="{19B8F6BF-5375-455C-9EA6-DF929625EA0E}">
        <p15:presenceInfo xmlns:p15="http://schemas.microsoft.com/office/powerpoint/2012/main" userId="3ad4a9b99f32de2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5033" autoAdjust="0"/>
  </p:normalViewPr>
  <p:slideViewPr>
    <p:cSldViewPr snapToGrid="0" snapToObjects="1">
      <p:cViewPr>
        <p:scale>
          <a:sx n="100" d="100"/>
          <a:sy n="100" d="100"/>
        </p:scale>
        <p:origin x="1866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6T17:37:48.893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12F36-9AC6-4C9E-8C35-1767E080833B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9EF56-1157-4373-B13E-178D92012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281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5FECF-8C3B-4532-ABA1-0EDE0D04CA2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248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https://o.remove.bg/downloads/5f5b979f-8424-4ac2-9fb9-7161ec00fc64/Untitled-removebg-preview.png"/>
          <p:cNvSpPr>
            <a:spLocks noChangeAspect="1" noChangeArrowheads="1"/>
          </p:cNvSpPr>
          <p:nvPr/>
        </p:nvSpPr>
        <p:spPr bwMode="auto">
          <a:xfrm>
            <a:off x="155575" y="-14446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28" name="AutoShape 4" descr="Premium Photo | Purple crumpled paper. background and texture,"/>
          <p:cNvSpPr>
            <a:spLocks noChangeAspect="1" noChangeArrowheads="1"/>
          </p:cNvSpPr>
          <p:nvPr/>
        </p:nvSpPr>
        <p:spPr bwMode="auto">
          <a:xfrm>
            <a:off x="155575" y="-14446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" name="TextBox 47"/>
          <p:cNvSpPr txBox="1">
            <a:spLocks noChangeArrowheads="1"/>
          </p:cNvSpPr>
          <p:nvPr/>
        </p:nvSpPr>
        <p:spPr bwMode="auto">
          <a:xfrm>
            <a:off x="1365639" y="307058"/>
            <a:ext cx="237116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Century Gothic" pitchFamily="34" charset="0"/>
              </a:rPr>
              <a:t>NAAC Accredited B++ Grade</a:t>
            </a:r>
          </a:p>
        </p:txBody>
      </p:sp>
      <p:sp>
        <p:nvSpPr>
          <p:cNvPr id="26" name="Frame 2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06E779B-5EC4-1EF2-F3C7-96E0D17DC4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425" y="584057"/>
            <a:ext cx="1319276" cy="98781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1715ABC-6E67-7E3F-023E-05C106637A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708"/>
          <a:stretch>
            <a:fillRect/>
          </a:stretch>
        </p:blipFill>
        <p:spPr>
          <a:xfrm>
            <a:off x="1394214" y="401880"/>
            <a:ext cx="5896272" cy="128515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1135F6F-A0FF-FFF5-3349-FB0AC1B92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212" y="648665"/>
            <a:ext cx="1009791" cy="10383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A4CFA5-B9E5-D28E-DC33-2714A4B9138C}"/>
              </a:ext>
            </a:extLst>
          </p:cNvPr>
          <p:cNvSpPr txBox="1"/>
          <p:nvPr/>
        </p:nvSpPr>
        <p:spPr>
          <a:xfrm>
            <a:off x="2551220" y="2141356"/>
            <a:ext cx="49341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NIETM Chatbot</a:t>
            </a:r>
            <a:endParaRPr lang="en-IN" sz="4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986B48-F31A-C757-55C4-F2C1EE7568F3}"/>
              </a:ext>
            </a:extLst>
          </p:cNvPr>
          <p:cNvSpPr txBox="1"/>
          <p:nvPr/>
        </p:nvSpPr>
        <p:spPr>
          <a:xfrm>
            <a:off x="3249285" y="3096569"/>
            <a:ext cx="3231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/>
              <a:t>Presented By:-</a:t>
            </a:r>
            <a:endParaRPr lang="en-IN" sz="3200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3A1BA8-DFA8-6080-602B-C778AC600A8D}"/>
              </a:ext>
            </a:extLst>
          </p:cNvPr>
          <p:cNvSpPr txBox="1"/>
          <p:nvPr/>
        </p:nvSpPr>
        <p:spPr>
          <a:xfrm>
            <a:off x="2875042" y="3769812"/>
            <a:ext cx="32312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400" dirty="0"/>
              <a:t>Mr. Uday I. Lahane</a:t>
            </a:r>
          </a:p>
          <a:p>
            <a:pPr marL="342900" indent="-342900">
              <a:buAutoNum type="arabicPeriod"/>
            </a:pPr>
            <a:r>
              <a:rPr lang="en-GB" sz="2400" dirty="0"/>
              <a:t>Mr. Rohit M. </a:t>
            </a:r>
            <a:r>
              <a:rPr lang="en-GB" sz="2400" dirty="0" err="1"/>
              <a:t>Lohokar</a:t>
            </a:r>
            <a:endParaRPr lang="en-GB" sz="2400" dirty="0"/>
          </a:p>
          <a:p>
            <a:pPr marL="342900" indent="-342900">
              <a:buAutoNum type="arabicPeriod"/>
            </a:pPr>
            <a:r>
              <a:rPr lang="en-GB" sz="2400" dirty="0"/>
              <a:t>Mr. Aman N. </a:t>
            </a:r>
            <a:r>
              <a:rPr lang="en-GB" sz="2400" dirty="0" err="1"/>
              <a:t>Gawai</a:t>
            </a:r>
            <a:endParaRPr lang="en-GB" sz="2400" dirty="0"/>
          </a:p>
          <a:p>
            <a:pPr marL="342900" indent="-342900">
              <a:buAutoNum type="arabicPeriod"/>
            </a:pPr>
            <a:r>
              <a:rPr lang="en-GB" sz="2400" dirty="0"/>
              <a:t>Mr. Dhiraj M. Raut</a:t>
            </a:r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C6DB5E-1340-ECC3-B55B-E376E6274E4D}"/>
              </a:ext>
            </a:extLst>
          </p:cNvPr>
          <p:cNvSpPr txBox="1"/>
          <p:nvPr/>
        </p:nvSpPr>
        <p:spPr>
          <a:xfrm>
            <a:off x="3249285" y="5721433"/>
            <a:ext cx="26494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Department of :-</a:t>
            </a:r>
          </a:p>
          <a:p>
            <a:r>
              <a:rPr lang="en-GB" sz="2800" dirty="0"/>
              <a:t>   CSE (AIML)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37910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3763D-D568-1869-56A6-B8B344F4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Index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361AE-1802-4596-7C0F-C4FE9327A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93" y="1417638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IN" dirty="0"/>
              <a:t>Introduction</a:t>
            </a:r>
          </a:p>
          <a:p>
            <a:r>
              <a:rPr lang="en-IN" dirty="0"/>
              <a:t>Problem Statement
Methodology</a:t>
            </a:r>
          </a:p>
          <a:p>
            <a:r>
              <a:rPr lang="en-IN" dirty="0"/>
              <a:t>Flowchart</a:t>
            </a:r>
          </a:p>
          <a:p>
            <a:r>
              <a:rPr lang="en-IN" dirty="0"/>
              <a:t>Technology</a:t>
            </a:r>
          </a:p>
          <a:p>
            <a:r>
              <a:rPr lang="en-IN" dirty="0"/>
              <a:t>Features</a:t>
            </a:r>
          </a:p>
          <a:p>
            <a:r>
              <a:rPr lang="en-IN" dirty="0"/>
              <a:t>Result
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805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7754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2761"/>
            <a:ext cx="8229600" cy="4959836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1800" b="1" dirty="0"/>
              <a:t>What is a Chatbot?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This project aims to develop a college enquiry Chabot that answers any queries post by students like college details, course-related questions, location of the college, fee structure etc.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The College Chatbot is a Python-based chatbot that utilizes machine learning algorithms and natural language processing (NLP) techniques to provide automated assistance to users with college-related inquiries.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The chatbot aims to improve the user experience by delivering quick and accurate responses to their questions.</a:t>
            </a:r>
            <a:endParaRPr lang="en-IN" sz="1600" dirty="0"/>
          </a:p>
          <a:p>
            <a:pPr marL="0" indent="0">
              <a:buNone/>
            </a:pPr>
            <a:endParaRPr lang="en-US" sz="1800" dirty="0"/>
          </a:p>
          <a:p>
            <a:pPr>
              <a:buNone/>
            </a:pPr>
            <a:r>
              <a:rPr lang="en-US" sz="1800" b="1" dirty="0"/>
              <a:t>Why is Chatbot Important?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Chatbot System is a web application that provides answers to the query.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The user does not have to personally go to the college for enquiry.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800" b="1" dirty="0"/>
              <a:t>What is scope of Chatbot?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The chatbot provides information about courses, departments, fee structure, admissions, campus facilities, events, placements, and contact details.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It supports text-based conversations and can be deployed on a website or internal portal.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44CE0-F557-1486-91AB-40DAA92FC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82D0D-13DC-7B5C-6359-305CA8BDD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Students need quick information about admissions, fees, </a:t>
            </a:r>
            <a:r>
              <a:rPr lang="en-GB" dirty="0" err="1"/>
              <a:t>cources</a:t>
            </a:r>
            <a:r>
              <a:rPr lang="en-GB" dirty="0"/>
              <a:t>, and facilities.</a:t>
            </a:r>
          </a:p>
          <a:p>
            <a:r>
              <a:rPr lang="en-GB" dirty="0"/>
              <a:t>Staff cannot respond to all queries  and all time.</a:t>
            </a:r>
          </a:p>
          <a:p>
            <a:r>
              <a:rPr lang="en-GB" dirty="0"/>
              <a:t>An automated enquiry chatbot is required which will be available for 24/7.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6307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4448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M</a:t>
            </a:r>
            <a:r>
              <a:rPr lang="en-IN" b="1" u="sng" dirty="0" err="1"/>
              <a:t>ethodology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5698"/>
            <a:ext cx="8229600" cy="50904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The development of the College Enquiry Chatbot follows a systematic methodology to ensure that the chatbot is accurate, user-friendly, and capable of responding to various college-related queries. The methodology is divided into several phases as described below: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sz="2800" dirty="0"/>
              <a:t>Requirement Analysis</a:t>
            </a:r>
          </a:p>
          <a:p>
            <a:r>
              <a:rPr lang="en-IN" sz="2800" dirty="0"/>
              <a:t>Data Collection</a:t>
            </a:r>
          </a:p>
          <a:p>
            <a:r>
              <a:rPr lang="en-IN" sz="2800" dirty="0"/>
              <a:t>Technology Selection</a:t>
            </a:r>
          </a:p>
          <a:p>
            <a:r>
              <a:rPr lang="en-IN" sz="2800" dirty="0"/>
              <a:t>Chatbot design</a:t>
            </a:r>
          </a:p>
          <a:p>
            <a:r>
              <a:rPr lang="en-IN" sz="2800" dirty="0"/>
              <a:t>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C12E-6416-83E2-7AB5-678C64E02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5314"/>
            <a:ext cx="8229600" cy="765110"/>
          </a:xfrm>
        </p:spPr>
        <p:txBody>
          <a:bodyPr>
            <a:normAutofit/>
          </a:bodyPr>
          <a:lstStyle/>
          <a:p>
            <a:r>
              <a:rPr lang="en-US" b="1" u="sng" dirty="0"/>
              <a:t>System Architecture</a:t>
            </a:r>
            <a:endParaRPr lang="en-IN" dirty="0"/>
          </a:p>
        </p:txBody>
      </p:sp>
      <p:sp>
        <p:nvSpPr>
          <p:cNvPr id="9" name="AutoShape 10" descr="Block diagram of the proposed crime predictive System.">
            <a:extLst>
              <a:ext uri="{FF2B5EF4-FFF2-40B4-BE49-F238E27FC236}">
                <a16:creationId xmlns:a16="http://schemas.microsoft.com/office/drawing/2014/main" id="{07CA60AB-D289-73AE-1C48-69C26BC269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9200" y="2438400"/>
            <a:ext cx="45720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C3AFBF-9542-541D-F760-C5256960E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308" y="907985"/>
            <a:ext cx="5867718" cy="578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788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96862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u="sng" dirty="0"/>
              <a:t>FLOWCHART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15684"/>
            <a:ext cx="8229600" cy="317766"/>
          </a:xfrm>
        </p:spPr>
        <p:txBody>
          <a:bodyPr>
            <a:normAutofit fontScale="92500" lnSpcReduction="20000"/>
          </a:bodyPr>
          <a:lstStyle/>
          <a:p>
            <a:r>
              <a:rPr sz="1800" dirty="0"/>
              <a:t>The flowchart explains the step-by-step </a:t>
            </a:r>
            <a:r>
              <a:rPr lang="en-US" sz="1800" dirty="0"/>
              <a:t>NIETM chatbot</a:t>
            </a:r>
            <a:r>
              <a:rPr sz="1800" dirty="0"/>
              <a:t> process.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18C6DF-8522-313D-A7BB-AE825621D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20" y="846138"/>
            <a:ext cx="6283960" cy="5770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7650"/>
            <a:ext cx="8229600" cy="1276350"/>
          </a:xfrm>
        </p:spPr>
        <p:txBody>
          <a:bodyPr>
            <a:normAutofit/>
          </a:bodyPr>
          <a:lstStyle/>
          <a:p>
            <a:r>
              <a:rPr lang="en-US" sz="2800" b="1" u="sng" dirty="0"/>
              <a:t>Technology Used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2977"/>
            <a:ext cx="8229600" cy="3962398"/>
          </a:xfrm>
        </p:spPr>
        <p:txBody>
          <a:bodyPr>
            <a:normAutofit fontScale="25000" lnSpcReduction="20000"/>
          </a:bodyPr>
          <a:lstStyle/>
          <a:p>
            <a:r>
              <a:rPr lang="en-IN" sz="6400" b="1" dirty="0"/>
              <a:t>System Requirements</a:t>
            </a:r>
          </a:p>
          <a:p>
            <a:r>
              <a:rPr lang="en-IN" sz="6400" b="1" dirty="0"/>
              <a:t>Hardware Requirements</a:t>
            </a:r>
          </a:p>
          <a:p>
            <a:pPr>
              <a:buNone/>
            </a:pPr>
            <a:r>
              <a:rPr lang="en-IN" sz="6400" b="1" dirty="0"/>
              <a:t>Minimum:</a:t>
            </a:r>
            <a:endParaRPr lang="en-IN" sz="6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6400" b="1" dirty="0"/>
              <a:t>CPU</a:t>
            </a:r>
            <a:r>
              <a:rPr lang="en-IN" sz="6400" dirty="0"/>
              <a:t>: Intel Core i5 / AMD </a:t>
            </a:r>
            <a:r>
              <a:rPr lang="en-IN" sz="6400" dirty="0" err="1"/>
              <a:t>Ryzen</a:t>
            </a:r>
            <a:r>
              <a:rPr lang="en-IN" sz="6400" dirty="0"/>
              <a:t> 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b="1" dirty="0"/>
              <a:t>RAM</a:t>
            </a:r>
            <a:r>
              <a:rPr lang="en-IN" sz="6400" dirty="0"/>
              <a:t>: 8 GB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b="1" dirty="0"/>
              <a:t>Storage</a:t>
            </a:r>
            <a:r>
              <a:rPr lang="en-IN" sz="6400" dirty="0"/>
              <a:t>: 50 GB HDD/SSD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b="1" dirty="0"/>
              <a:t>GPU</a:t>
            </a:r>
            <a:r>
              <a:rPr lang="en-IN" sz="6400" dirty="0"/>
              <a:t>: Integrated or entry-level GPU (limited performance)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6400" dirty="0"/>
          </a:p>
          <a:p>
            <a:r>
              <a:rPr lang="en-IN" sz="6400" b="1" dirty="0"/>
              <a:t>Software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b="1" dirty="0"/>
              <a:t>Programming Language</a:t>
            </a:r>
            <a:r>
              <a:rPr lang="en-IN" sz="6400" dirty="0"/>
              <a:t>: Python 3.7+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b="1" dirty="0"/>
              <a:t>Libraries</a:t>
            </a:r>
            <a:r>
              <a:rPr lang="en-IN" sz="6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6400" b="1" dirty="0"/>
              <a:t>NLP&amp;AI models</a:t>
            </a:r>
            <a:r>
              <a:rPr lang="en-IN" sz="6400" dirty="0"/>
              <a:t>– For extracting details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6400" b="1" dirty="0"/>
              <a:t>NumPy / Pandas</a:t>
            </a:r>
            <a:r>
              <a:rPr lang="en-IN" sz="6400" dirty="0"/>
              <a:t> – For data handling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6400" b="1" dirty="0"/>
              <a:t>Matplotlib / Seaborn</a:t>
            </a:r>
            <a:r>
              <a:rPr lang="en-IN" sz="6400" dirty="0"/>
              <a:t> – For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b="1" dirty="0"/>
              <a:t>Development Environment</a:t>
            </a:r>
            <a:r>
              <a:rPr lang="en-IN" sz="6400" dirty="0"/>
              <a:t>: </a:t>
            </a:r>
            <a:r>
              <a:rPr lang="en-IN" sz="6400" dirty="0" err="1"/>
              <a:t>Jupyter</a:t>
            </a:r>
            <a:r>
              <a:rPr lang="en-IN" sz="6400" dirty="0"/>
              <a:t> Notebook, VS Code, or PyCharm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b="1" dirty="0"/>
              <a:t>Package Manager</a:t>
            </a:r>
            <a:r>
              <a:rPr lang="en-IN" sz="6400" dirty="0"/>
              <a:t>: pip / </a:t>
            </a:r>
            <a:r>
              <a:rPr lang="en-IN" sz="6400" dirty="0" err="1"/>
              <a:t>conda</a:t>
            </a:r>
            <a:endParaRPr lang="en-IN" sz="6400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5400D55-3ABF-55C0-708E-7B0F0B06DEC2}"/>
              </a:ext>
            </a:extLst>
          </p:cNvPr>
          <p:cNvSpPr txBox="1"/>
          <p:nvPr/>
        </p:nvSpPr>
        <p:spPr>
          <a:xfrm>
            <a:off x="742950" y="5014616"/>
            <a:ext cx="144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FRONTEND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HTML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CSS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JavaScript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7D8B78-78F0-485B-3877-1B3FAC4E9EEE}"/>
              </a:ext>
            </a:extLst>
          </p:cNvPr>
          <p:cNvSpPr txBox="1"/>
          <p:nvPr/>
        </p:nvSpPr>
        <p:spPr>
          <a:xfrm>
            <a:off x="3400426" y="5014616"/>
            <a:ext cx="11833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BACKEND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Python</a:t>
            </a:r>
          </a:p>
          <a:p>
            <a:endParaRPr lang="en-IN" dirty="0"/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2501C2CE-F051-520D-F79E-6E84091CF77B}"/>
              </a:ext>
            </a:extLst>
          </p:cNvPr>
          <p:cNvSpPr txBox="1"/>
          <p:nvPr/>
        </p:nvSpPr>
        <p:spPr>
          <a:xfrm>
            <a:off x="6010275" y="5014616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DATABASE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SQL &amp; SQLITE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ED2C-4913-526F-2F4E-F434DB839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55F5-D40F-BF6A-0A4C-E0440E1A6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Admission Enquiry</a:t>
            </a:r>
          </a:p>
          <a:p>
            <a:r>
              <a:rPr lang="en-GB" dirty="0" err="1"/>
              <a:t>Cource</a:t>
            </a:r>
            <a:r>
              <a:rPr lang="en-GB" dirty="0"/>
              <a:t> Details</a:t>
            </a:r>
          </a:p>
          <a:p>
            <a:r>
              <a:rPr lang="en-GB" dirty="0"/>
              <a:t>Fees Information </a:t>
            </a:r>
          </a:p>
          <a:p>
            <a:r>
              <a:rPr lang="en-GB" dirty="0"/>
              <a:t>Placement details</a:t>
            </a:r>
          </a:p>
          <a:p>
            <a:r>
              <a:rPr lang="en-GB" dirty="0"/>
              <a:t>Scholarship</a:t>
            </a:r>
          </a:p>
          <a:p>
            <a:r>
              <a:rPr lang="en-GB" dirty="0"/>
              <a:t>Hostel</a:t>
            </a:r>
          </a:p>
          <a:p>
            <a:r>
              <a:rPr lang="en-GB" dirty="0"/>
              <a:t>Campus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9132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DE92-18FB-1A4D-7E91-2D7AF245B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B9A0F4-42FA-1B3D-FB95-3BE1DEAAC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7" y="1600200"/>
            <a:ext cx="805008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888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D5591-21DF-B02E-96FC-CCBE9D269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CD660C-DBDC-06AA-7544-03D160A094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7" y="1600200"/>
            <a:ext cx="805008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20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09E30-087C-81EC-0D29-B20FF47A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11A5A0-9AB6-F467-DEB3-5E8D16030E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806" y="1333500"/>
            <a:ext cx="3339844" cy="533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54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3087"/>
          </a:xfrm>
        </p:spPr>
        <p:txBody>
          <a:bodyPr>
            <a:normAutofit/>
          </a:bodyPr>
          <a:lstStyle/>
          <a:p>
            <a:r>
              <a:rPr lang="en-US" sz="2800" b="1" u="sng" dirty="0"/>
              <a:t>Conclusion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2744"/>
            <a:ext cx="8229600" cy="452596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Chatbots improve communication between college and student.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It reduces the manual workload and provides 24/7 accessible platform.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Provides quick and reliable information.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Useful for modern digital campuses.</a:t>
            </a:r>
            <a:endParaRPr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95314A4-63C7-9675-BF49-484306ED4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96562" y="2693987"/>
            <a:ext cx="9054119" cy="1470025"/>
          </a:xfrm>
        </p:spPr>
        <p:txBody>
          <a:bodyPr>
            <a:normAutofit/>
          </a:bodyPr>
          <a:lstStyle/>
          <a:p>
            <a:r>
              <a:rPr lang="en-IN" sz="7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  <a:endParaRPr lang="en-US" sz="7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561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387</TotalTime>
  <Words>468</Words>
  <Application>Microsoft Office PowerPoint</Application>
  <PresentationFormat>On-screen Show (4:3)</PresentationFormat>
  <Paragraphs>94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</vt:lpstr>
      <vt:lpstr>Office Theme</vt:lpstr>
      <vt:lpstr>PowerPoint Presentation</vt:lpstr>
      <vt:lpstr>Index</vt:lpstr>
      <vt:lpstr>Introduction</vt:lpstr>
      <vt:lpstr>Problem Statement</vt:lpstr>
      <vt:lpstr>Methodology</vt:lpstr>
      <vt:lpstr>System Architecture</vt:lpstr>
      <vt:lpstr>FLOWCHART</vt:lpstr>
      <vt:lpstr>Technology Used</vt:lpstr>
      <vt:lpstr>Features</vt:lpstr>
      <vt:lpstr>Result </vt:lpstr>
      <vt:lpstr>Result</vt:lpstr>
      <vt:lpstr>Result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uday lahane</dc:creator>
  <cp:keywords/>
  <dc:description>generated using python-pptx</dc:description>
  <cp:lastModifiedBy>Dhiraj Raut</cp:lastModifiedBy>
  <cp:revision>100</cp:revision>
  <dcterms:created xsi:type="dcterms:W3CDTF">2013-01-27T09:14:16Z</dcterms:created>
  <dcterms:modified xsi:type="dcterms:W3CDTF">2026-04-18T04:09:32Z</dcterms:modified>
  <cp:category/>
</cp:coreProperties>
</file>